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solidFill>
            <a:srgbClr val="10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E6EDF3"/>
                </a:solidFill>
                <a:latin typeface="Segoe UI"/>
              </a:rPr>
              <a:t>PopToken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46120"/>
            <a:ext cx="5788152" cy="36576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E8EFB"/>
                </a:solidFill>
                <a:latin typeface="Segoe UI"/>
              </a:rPr>
              <a:t>Blockchain Educativa Distribuida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D8590"/>
                </a:solidFill>
                <a:latin typeface="Segoe UI"/>
              </a:rPr>
              <a:t>Trabajo Integrador  ·  Sistemas Distribuidos y Programación Paralela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709160"/>
            <a:ext cx="6702552" cy="27432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D8590"/>
                </a:solidFill>
                <a:latin typeface="Segoe UI"/>
              </a:rPr>
              <a:t>I N T E G R A N T E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  <a:latin typeface="Segoe UI"/>
              </a:rPr>
              <a:t>Mariano Cavallo   ·   Valentino Aimale   ·   Lautaro Marino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Los Pilares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822960"/>
            <a:ext cx="356616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" y="822960"/>
            <a:ext cx="356616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68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Pilar 1 — Exploración CPU vs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Implementación y comparación de algoritmos
de hashing en CPU y GPU (CUDA)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Hit 2 · Hello CUDA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Primer programa en CUDA, familiarización
con el modelo de programación GPU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Hit 3 · Números aleatorios en GPU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Generación paralela masiva en CUDA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Hit 4 · MD5 en CPU y GPU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Implementación del hash MD5 en ambas
arquitecturas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Hit 5 · Fuerza bruta paralela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Búsqueda de nonce que cumpla un prefijo
de hash (base del Proof of Work)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Hit 6 · Mediciones y benchmarks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Speedup GPU/CPU: hasta 565× con
prefijo de 6 dígitos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Hit 7 · Búsqueda por rangos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3FB950"/>
                </a:solidFill>
                <a:latin typeface="Segoe UI"/>
              </a:rPr>
              <a:t>⭐ Base del minero del proyecto.
Cada worker recibe un rango acotado
de nonces a explorar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9935" y="822960"/>
            <a:ext cx="356616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59935" y="822960"/>
            <a:ext cx="3566160" cy="34747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6" y="868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Pilar 2 — Blockchain Distribuida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7" y="1261872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Sistema completo de blockchain con
minería distribuida entre workers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API REST (FastAPI + Uvicorn)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Endpoints para transacciones, wallets,
cadena, balance y minería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Proof of Work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MD5(chain_hash + nonce) debe empezar
con el prefijo de dificultad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Mensajería asíncrona (RabbitMQ)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Cola mining_tasks → workers
Cola mining_results ← ganador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Workers CPU y GPU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Compiten por fragmentos de rango.
El primero en encontrar el nonce gana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Estado persistente (Redis)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Cadena, pool de transacciones,
sesiones, claves públicas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Autenticación ECDSA P-384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Challenge-response. La clave privada
nunca sale del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3" y="822960"/>
            <a:ext cx="356616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72983" y="822960"/>
            <a:ext cx="3566160" cy="347472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4" y="868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Pilar 3 — Despliegue en Producción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5" y="1261872"/>
            <a:ext cx="3246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Infraestructura production-ready en
Google Kubernetes Engine (GKE)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Kubernetes (GKE Standard)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Dos node pools: infra (Redis+RabbitMQ)
y apps (API+workers). Autoscaling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CI/CD · GitHub Actions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4 pipelines: cluster, infra, apps,
worker-gpu. Auth sin claves estáticas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IaC · OpenTofu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Cluster GKE declarado en HCL.
Estado remoto en GCS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NGINX Ingress + TLS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Let's Encrypt vía cert-manager.
HTTPS público en poptoken.*.nip.io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Monitoreo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Prometheus (scrape 15s, auto-discovery
por anotaciones) + Grafana (LB público)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E6EDF3"/>
                </a:solidFill>
                <a:latin typeface="Segoe UI"/>
              </a:rPr>
              <a:t>Workload Identity Federation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GitHub → GCP via OIDC JWT.
Zero claves estáticas en el repo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¿Qué es PopToken?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8EFB"/>
                </a:solidFill>
                <a:latin typeface="Segoe UI"/>
              </a:rPr>
              <a:t>Sistema de tokens de fidelidad para cines, respaldado por una blockchain propia con minería distribuida.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0881360" cy="27432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🎬  Los cines emiten tokens a sus clientes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como recompensa por asistir a funciones.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💸  Los usuarios pueden transferir tokens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entre sí o canjearlos en el cine.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🔗  Cada transacción queda registrada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de forma inmutable en la cadena.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⛏️  La validación es distribuida: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múltiples workers minan en paralelo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usando CPU (GKE) y GPU (cluster profe).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🔐  Sin contraseñas: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autenticación por criptografía asimétrica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(ECDSA P-384 — Web Crypto API).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🏦  Para emitir tokens hay que ser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un emisor autorizado por votación.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📦  Las transacciones se agrupan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en bloques sellados con PoW (MD5).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E6EDF3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E6EDF3"/>
                </a:solidFill>
                <a:latin typeface="Segoe UI"/>
              </a:rPr>
              <a:t>☁️  La infraestructura corre en GKE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con tolerancia a fallos y escalado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7D8590"/>
                </a:solidFill>
                <a:latin typeface="Segoe UI"/>
              </a:rPr>
              <a:t>    automático de workers.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27432" cy="40233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Consideraciones Adicionales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777240"/>
            <a:ext cx="3794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" y="777240"/>
            <a:ext cx="3794760" cy="34747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Ciclo de vida de un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16152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Los tokens nacen cuando un cine emisor realiza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una transacción de tipo emisión.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Solo existen cines (emisores) y usuarios.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Los cines emiten y reciben canjes.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Los usuarios reciben, transfieren y canjen.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777240"/>
            <a:ext cx="3794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777240"/>
            <a:ext cx="379476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8229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Autorización de emisores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216152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Para convertirse en cine emisor: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1. El cine solicita ser emisor (POST /solicitar_emisor)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2. Los emisores existentes votan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3. Al alcanzar el quórum → tx autorizar_emisor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4. La tx se mina y queda en la cadena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777240"/>
            <a:ext cx="3794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777240"/>
            <a:ext cx="3794760" cy="34747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8229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Autenticación sin contraseñas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216152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El browser genera un par ECDSA P-384.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La clave pública va al servidor.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La clave privada nunca sale del browser.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Login: el servidor manda un challenge,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el browser lo firma → el servidor verifica.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3520440"/>
            <a:ext cx="3794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" y="3520440"/>
            <a:ext cx="3794760" cy="347472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5661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Anti-duplicado de transacciones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959352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Cada transacción tiene un ID único: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MD5(JSON ordenado de la tx).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El servidor mantiene un set 'seen:tx'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en Redis. Si el ID ya existe, la tx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es rechazada automáticamente.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3520440"/>
            <a:ext cx="3794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7096" y="3520440"/>
            <a:ext cx="3794760" cy="34747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35661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Bloque génesis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959352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El primer bloque define: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· Dificultad del PoW (prefijo del hash)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· Quórum para aprobar emisores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· Lista inicial de emisores autorizados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Estos parámetros no cambian durante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la vida de la cadena.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3520440"/>
            <a:ext cx="37947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3520440"/>
            <a:ext cx="3794760" cy="34747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56616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Formación de bloques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959352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Cada 30 segundos, nct-consumer verifica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si hay transacciones en el pool.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/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Un lock distribuido en Redis garantiza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que solo uno de los 2 pods forma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el bloque (sin duplicados).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Formato de una Transacción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777240"/>
            <a:ext cx="379476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" y="777240"/>
            <a:ext cx="379476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8046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EMISIÓN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cine emisor autorizado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490472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5361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usuario destino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1792224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837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tokens: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1837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cantidad emitida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2093976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1396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tipo: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1396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"emision"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" y="2395728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441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motivo: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2441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ej: ticket_purchase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2697480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743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pelicula: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ej: dune2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" y="2999232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44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timestamp: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0449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fecha y hora UTC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" y="3300984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3467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tx_id: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3467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MD5(json ordenado)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" y="3602736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97096" y="777240"/>
            <a:ext cx="379476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97096" y="777240"/>
            <a:ext cx="3794760" cy="34747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6" y="8046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TRANSFERENCIA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from: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usuario origen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9976" y="1490472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9976" y="15361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to: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31536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usuario destino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9976" y="1792224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9976" y="1837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tokens: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1536" y="1837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cantidad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9976" y="2093976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6" y="21396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tipo: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31536" y="21396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"transferencia"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9976" y="2395728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2441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timestamp: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31536" y="2441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fecha y hora UTC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79976" y="2697480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9976" y="2743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tx_id: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31536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MD5(json ordenado)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9976" y="2999232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79976" y="30449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saldo del remitente se verifica
antes de aceptarla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47304" y="777240"/>
            <a:ext cx="379476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47304" y="777240"/>
            <a:ext cx="3794760" cy="347472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4" y="8046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CANJE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0183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from: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1744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usuario que canjea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0183" y="1490472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30183" y="15361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to: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81744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cine destino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30183" y="1792224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0183" y="1837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tokens: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81744" y="1837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cantidad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30183" y="2093976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30183" y="21396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tipo: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81744" y="21396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"canje"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30183" y="2395728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30183" y="2441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timestamp: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81744" y="2441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fecha y hora UTC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30183" y="2697480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30183" y="2743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tx_id: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81744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  <a:latin typeface="Segoe UI"/>
              </a:rPr>
              <a:t>MD5(json ordenado)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30183" y="2999232"/>
            <a:ext cx="3291840" cy="9144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30183" y="30449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cine receptor debe ser
un emisor autorizado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6888" y="6400800"/>
            <a:ext cx="11695176" cy="274320"/>
          </a:xfrm>
          <a:prstGeom prst="rect">
            <a:avLst/>
          </a:prstGeom>
          <a:solidFill>
            <a:srgbClr val="1A1F2A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6409944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  <a:latin typeface="Segoe UI"/>
              </a:rPr>
              <a:t>  ⚠  Toda transacción lleva un tx_id = MD5(JSON ordenado). El servidor rechaza cualquier tx cuyo ID ya esté en el set seen:tx de Redis.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Diagrama de Arquitectura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8503920" cy="5577840"/>
          </a:xfrm>
          <a:prstGeom prst="rect">
            <a:avLst/>
          </a:prstGeom>
          <a:solidFill>
            <a:srgbClr val="121720"/>
          </a:solidFill>
          <a:ln w="19050">
            <a:solidFill>
              <a:srgbClr val="6E8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8EFB"/>
                </a:solidFill>
                <a:latin typeface="Segoe UI"/>
              </a:rPr>
              <a:t>CLUSTER GKE  ·  blockchain-tp  ·  us-central1-a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813816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D8590"/>
                </a:solidFill>
                <a:latin typeface="Segoe UI"/>
              </a:rPr>
              <a:t>🌐  Internet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170432"/>
            <a:ext cx="27432" cy="402336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18872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Ingress NGINX  (LB 34.122.53.67)  ·  TLS Let's Encrypt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173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HTTPS :443 → nct-api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8138160" cy="2514600"/>
          </a:xfrm>
          <a:prstGeom prst="rect">
            <a:avLst/>
          </a:prstGeom>
          <a:solidFill>
            <a:srgbClr val="141C2A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373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nodegroup APPS  (e2-standard-2 · autoscaling 2-4 nodos)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7400"/>
            <a:ext cx="2286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6E8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848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8EFB"/>
                </a:solidFill>
                <a:latin typeface="Segoe UI"/>
              </a:rPr>
              <a:t>nct-api  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042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FastAPI + Web UI
POST /tx  GET /chain
/metrics :8888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057400"/>
            <a:ext cx="2286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20848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nct-consumer  ×2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3042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Sella bloques
Lock distribuido
/metrics :8889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2057400"/>
            <a:ext cx="2286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20848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83E"/>
                </a:solidFill>
                <a:latin typeface="Segoe UI"/>
              </a:rPr>
              <a:t>worker-cpu  HPA 1-6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30428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Minero CPU
Fuerza bruta MD5
/metrics :8001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54680"/>
            <a:ext cx="22860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82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3B341"/>
                </a:solidFill>
                <a:latin typeface="Segoe UI"/>
              </a:rPr>
              <a:t>Grafana  ×1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40156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Dashboard (LB :3000)
Datasource: Prometheus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25112"/>
            <a:ext cx="8138160" cy="1874519"/>
          </a:xfrm>
          <a:prstGeom prst="rect">
            <a:avLst/>
          </a:prstGeom>
          <a:solidFill>
            <a:srgbClr val="1218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434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nodegroup INFRA  (e2-standard-2 · 2 nodos fijos)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63440"/>
            <a:ext cx="2286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90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  <a:latin typeface="Segoe UI"/>
              </a:rPr>
              <a:t>Redis  ×1 + PVC 5Gi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1032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Estado de la cadena
Pool de txs pendientes
Sesiones y claves pub.
AOF (persistencia)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4663440"/>
            <a:ext cx="2286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4690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83E"/>
                </a:solidFill>
                <a:latin typeface="Segoe UI"/>
              </a:rPr>
              <a:t>RabbitMQ  ×3 cluster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91032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mining_tasks
mining_results
Quorum queues
rabbitmq-external (LB)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4663440"/>
            <a:ext cx="22860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690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3B341"/>
                </a:solidFill>
                <a:latin typeface="Segoe UI"/>
              </a:rPr>
              <a:t>Prometheus  ×1+PVC10Gi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1032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Scrape 15s
Auto-discovery pods
Retención 7 días
/metrics endpoints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3960" y="777240"/>
            <a:ext cx="3154680" cy="5577840"/>
          </a:xfrm>
          <a:prstGeom prst="rect">
            <a:avLst/>
          </a:prstGeom>
          <a:solidFill>
            <a:srgbClr val="10181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8046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FB950"/>
                </a:solidFill>
                <a:latin typeface="Segoe UI"/>
              </a:rPr>
              <a:t>CLUSTER PROFE  ·  k3s
namespace: g-la-25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1325880"/>
            <a:ext cx="27889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3533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worker-gpu  ×1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581912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GPU: GeForce GTX 1050
nvidia.com/gpu: 1
Minero CUDA (sm_61)
Fuerza bruta paralela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8590"/>
                </a:solidFill>
                <a:latin typeface="Segoe UI"/>
              </a:rPr>
              <a:t>◄── AMQP :5672 (internet) ───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8590"/>
                </a:solidFill>
                <a:latin typeface="Segoe UI"/>
              </a:rPr>
              <a:t>consume mining_tasks
publica mining_results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601968"/>
            <a:ext cx="1188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7D8590"/>
                </a:solidFill>
                <a:latin typeface="Segoe UI"/>
              </a:rPr>
              <a:t>LB = LoadBalancer GCP  ·  PVC = Persistent Volume Claim  ·  HPA = Horizontal Pod Autoscaler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Flujo de una Transacción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74320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274320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7863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822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Envío y validación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280160"/>
            <a:ext cx="2423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Usuario envía POST /tx con Bearer token al nct-api.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Se valida: token de sesión válido, estructura correcta,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emisor autorizado, saldo suficiente, no duplicado.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Si todo OK → se agrega al pool: Redis LPUSH pool:pending &lt;tx&gt;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1" y="3200400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D8590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777240"/>
            <a:ext cx="274320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777240"/>
            <a:ext cx="2743200" cy="411480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7863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822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Formación del bloque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1280160"/>
            <a:ext cx="2423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Cada 30s, nct-consumer adquiere un lock distribuido en Redis.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Solo uno de los 2 pods forma el bloque (el otro espera).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Arma la estructura del bloque con todas las txs del pool.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Calcula chain_hash = MD5(bloque_json) y divide en N fragmentos.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Publica N tareas en RabbitMQ: mining_tasks.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4" y="3200400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D8590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777240"/>
            <a:ext cx="274320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777240"/>
            <a:ext cx="2743200" cy="4114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7863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822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Minería paralela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1280160"/>
            <a:ext cx="2423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Los workers (CPU en GKE + GPU en cluster del profe)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consumen tareas de mining_tasks.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Cada uno busca nonce en su rango: MD5(chain_hash + nonce)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El primero que encuentra un hash con el prefijo correcto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publica el resultado en mining_results.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200400"/>
            <a:ext cx="128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D8590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777240"/>
            <a:ext cx="2743200" cy="5394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777240"/>
            <a:ext cx="2743200" cy="4114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7863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822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Sellado y confirmación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1280160"/>
            <a:ext cx="2423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nct-consumer consume el resultado ganador de mining_results.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Re-verifica el PoW de forma independiente.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Si es válido → Redis MULTI/EXEC: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  · Escribe block:N  · Sube chain:height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  · Borra block:pending:N  · Vacía pool:pending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7D8590"/>
                </a:solidFill>
                <a:latin typeface="Segoe UI"/>
              </a:rPr>
              <a:t>La transacción queda confirmada en la blockchain.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Tolerancia a Fallos y Escalabilidad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577840" cy="5486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577840" cy="34747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🛡  Tolerancia a Fallos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73152" cy="1645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88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nct-api  (×2 réplicas)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264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Si cae un pod, el otro sigue respondiendo. K8s reinicia el pod caído automáticamente.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84248"/>
            <a:ext cx="73152" cy="1645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965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nct-consumer  (×2 réplicas)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037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lock distribuido en Redis garantiza que aunque ambos estén activos, solo uno forma cada bloque. Si el que tiene el lock cae, el otro toma el lock al expirar (25s).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61488"/>
            <a:ext cx="73152" cy="1645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RabbitMQ  (×3 nodos, Quorum Queues)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9809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Tolera la caída de 1 nodo sin perder mensajes. El quórum (2/3) sigue operativo. Las tareas de minería no se pierden.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38728"/>
            <a:ext cx="73152" cy="1645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520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Redis  (StatefulSet + PVC)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Si el nodo físico falla, K8s reprograma el pod en otro nodo y re-monta el disco persistente. La cadena no se pierde. ⚠ Único punto de fallo crítico en disponibilidad.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15968"/>
            <a:ext cx="73152" cy="1645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297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Worker-GPU no disponible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53542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worker-CPU del GKE mina igual. La cadena no se detiene, solo baja el throughput de minería.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93207"/>
            <a:ext cx="73152" cy="1645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074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Nodo físico caído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3126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K8s detecta el nodo como NotReady y reprograma todos sus pods en los nodos restantes del mismo pool.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777240"/>
            <a:ext cx="5760720" cy="5486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777240"/>
            <a:ext cx="576072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804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📈  Escalabilidad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207008"/>
            <a:ext cx="73152" cy="1645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1887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worker-cpu  —  HPA automático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42646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Escala de 1 a 6 réplicas según CPU promedio (umbral: 70%). Cuando llegan muchas tareas de minería, GKE agrega workers automáticamente.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121408"/>
            <a:ext cx="73152" cy="1645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2103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apps-pool  —  Cluster Autoscaler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34086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Si los pods de apps no caben en los nodos existentes, GKE agrega nodos al pool (hasta 4). Al bajar la carga, los elimina.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035808"/>
            <a:ext cx="73152" cy="1645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30175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Minería paralela por fragmentos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25526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trabajo de un bloque se divide en N fragmentos independientes (N_FRAGMENTOS=4 por defecto). Agregar más workers aumenta linealmente el throughput.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950208"/>
            <a:ext cx="73152" cy="1645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3931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Workers multi-cluster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16966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Los workers no necesitan estar en el mismo cluster. El worker-GPU del profe colabora vía RabbitMQ externo. Se pueden agregar más clusters simplemente conectándolos al mismo RabbitMQ.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864608"/>
            <a:ext cx="73152" cy="1645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846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  <a:latin typeface="Segoe UI"/>
              </a:rPr>
              <a:t>nct-api  —  stateless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508406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Al ser stateless (el estado está en Redis), se pueden agregar réplicas de nct-api sin ninguna coordinación adicional.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Stack Tecnológico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804672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" y="804672"/>
            <a:ext cx="228600" cy="1051560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Lenguaje principal del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45536" y="804672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45536" y="804672"/>
            <a:ext cx="228600" cy="1051560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FastAPI + Uvicorn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API REST asíncrona y servidor ASGI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804672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4184" y="804672"/>
            <a:ext cx="228600" cy="105156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Redis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Estado de la blockchain y sesiones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2832" y="804672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42832" y="804672"/>
            <a:ext cx="228600" cy="10515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RabbitMQ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Cola de mensajes para distribución PoW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" y="2057400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" y="2057400"/>
            <a:ext cx="228600" cy="1051560"/>
          </a:xfrm>
          <a:prstGeom prst="rect">
            <a:avLst/>
          </a:prstGeom>
          <a:solidFill>
            <a:srgbClr val="7D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Docker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532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Empaquetado de servicios en imágenes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5536" y="2057400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45536" y="2057400"/>
            <a:ext cx="228600" cy="1051560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5576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Kubernetes (GKE)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2532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Orquestación en Google 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4184" y="2057400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44184" y="2057400"/>
            <a:ext cx="228600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OpenTofu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2532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Infraestructura como código (IaC)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42832" y="2057400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42832" y="2057400"/>
            <a:ext cx="228600" cy="10515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2167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GitHub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253288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CI/CD: build, push, deploy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" y="3310127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6888" y="3310127"/>
            <a:ext cx="228600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ECDSA P-384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78561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Autenticación sin contraseñas (WebCrypto)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5536" y="3310127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45536" y="3310127"/>
            <a:ext cx="228600" cy="105156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65576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MD5 + PoW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5576" y="378561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Algoritmo de minería (Proof of Work)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44184" y="3310127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44184" y="3310127"/>
            <a:ext cx="228600" cy="10515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CUDA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378561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Minería paralela en GPU (GTX 1050)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42832" y="3310127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42832" y="3310127"/>
            <a:ext cx="228600" cy="105156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62872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Prometheus+Grafana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378561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Métricas y visualización en tiempo real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" y="4562855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6888" y="4562855"/>
            <a:ext cx="228600" cy="1051560"/>
          </a:xfrm>
          <a:prstGeom prst="rect">
            <a:avLst/>
          </a:prstGeom>
          <a:solidFill>
            <a:srgbClr val="7D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6725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NGINX Ingress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0383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Reverse proxy y balanceador L7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45536" y="4562855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45536" y="4562855"/>
            <a:ext cx="228600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65576" y="46725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Let's Encrypt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65576" y="50383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Certificados TLS automáticos (ACME)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44184" y="4562855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44184" y="4562855"/>
            <a:ext cx="228600" cy="10515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64224" y="46725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Workload Identity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64224" y="50383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Auth GCP sin claves estáticas (OIDC)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42832" y="4562855"/>
            <a:ext cx="2697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42832" y="4562855"/>
            <a:ext cx="228600" cy="1051560"/>
          </a:xfrm>
          <a:prstGeom prst="rect">
            <a:avLst/>
          </a:prstGeom>
          <a:solidFill>
            <a:srgbClr val="7D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62872" y="46725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Segoe UI"/>
              </a:rPr>
              <a:t>nip.io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62872" y="50383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DNS wildcard para IP pública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E8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Análisis de Fallos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0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729984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PopToken · Sistemas Distribuidos y Programación Paralela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804672"/>
            <a:ext cx="1828800" cy="347472"/>
          </a:xfrm>
          <a:prstGeom prst="rect">
            <a:avLst/>
          </a:prstGeom>
          <a:solidFill>
            <a:srgbClr val="212635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85953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Componente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804672"/>
            <a:ext cx="3200400" cy="347472"/>
          </a:xfrm>
          <a:prstGeom prst="rect">
            <a:avLst/>
          </a:prstGeom>
          <a:solidFill>
            <a:srgbClr val="212635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8595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¿Qué ocurre?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804672"/>
            <a:ext cx="1645920" cy="347472"/>
          </a:xfrm>
          <a:prstGeom prst="rect">
            <a:avLst/>
          </a:prstGeom>
          <a:solidFill>
            <a:srgbClr val="212635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8595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Impacto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8" y="804672"/>
            <a:ext cx="4754880" cy="347472"/>
          </a:xfrm>
          <a:prstGeom prst="rect">
            <a:avLst/>
          </a:prstGeom>
          <a:solidFill>
            <a:srgbClr val="212635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7" y="859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8EFB"/>
                </a:solidFill>
                <a:latin typeface="Segoe UI"/>
              </a:rPr>
              <a:t>Mecanismo de recuperación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" y="1188720"/>
            <a:ext cx="18288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1408" y="1188720"/>
            <a:ext cx="32004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67528" y="1188720"/>
            <a:ext cx="164592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59168" y="1188720"/>
            <a:ext cx="475488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126187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nct-api  (pod)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126187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pod deja de responder a las requests HTTP.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1389888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3B341"/>
                </a:solidFill>
                <a:latin typeface="Segoe UI"/>
              </a:rPr>
              <a:t>⚠ Parcial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1234440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K8s detecta falla en la readiness probe. El Service deja de enviarle tráfico. La otra réplica absorbe todo. K8s reinicia el pod caído.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" y="1920240"/>
            <a:ext cx="18288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21408" y="1920240"/>
            <a:ext cx="32004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7528" y="1920240"/>
            <a:ext cx="164592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59168" y="1920240"/>
            <a:ext cx="475488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199339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nct-consumer  (pod)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199339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Deja de consumir resultados de minería y de formar bloques.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2121408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3B341"/>
                </a:solidFill>
                <a:latin typeface="Segoe UI"/>
              </a:rPr>
              <a:t>⚠ Parcial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7" y="1965960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La segunda réplica toma el lock distribuido de Redis (expira en 25s) y retoma la formación de bloques. Los mensajes en RabbitMQ se mantienen.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" y="2651760"/>
            <a:ext cx="18288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21408" y="2651760"/>
            <a:ext cx="32004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7528" y="2651760"/>
            <a:ext cx="164592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9168" y="2651760"/>
            <a:ext cx="475488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272491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worker-cpu  (pod)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2848" y="272491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Las tareas de minería asignadas a ese pod quedan sin procesar.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2852928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✅ Mínimo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7" y="2697480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RabbitMQ re-encola el mensaje (no se hizo ACK). Otro worker lo toma. El HPA puede lanzar una réplica nueva si la carga sube.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" y="3383280"/>
            <a:ext cx="18288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21408" y="3383280"/>
            <a:ext cx="32004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67528" y="3383280"/>
            <a:ext cx="164592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9168" y="3383280"/>
            <a:ext cx="475488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" y="345643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Redis  (pod)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2848" y="345643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Toda la API falla (no puede validar sesiones ni leer la cadena).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3584448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  <a:latin typeface="Segoe UI"/>
              </a:rPr>
              <a:t>🔴 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7" y="3429000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K8s reprograma el pod StatefulSet en otro nodo del infra-pool y re-monta el PVC. La cadena y el pool se recuperan desde el disco (AOF).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" y="4114800"/>
            <a:ext cx="18288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21408" y="4114800"/>
            <a:ext cx="32004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67528" y="4114800"/>
            <a:ext cx="164592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59168" y="4114800"/>
            <a:ext cx="475488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" y="418795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RabbitMQ  (1 nodo)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2848" y="418795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cluster pierde un miembro pero mantiene quórum (2/3).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3248" y="4315968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✅ Mínimo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4160520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Las Quorum Queues siguen operativas con 2 nodos. K8s reinicia el pod caído y RabbitMQ lo re-integra al cluster automáticamente.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" y="4846320"/>
            <a:ext cx="18288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21408" y="4846320"/>
            <a:ext cx="320040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67528" y="4846320"/>
            <a:ext cx="164592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59168" y="4846320"/>
            <a:ext cx="4754880" cy="694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" y="491947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Nodo físico  (VM)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2848" y="491947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Todos los pods en ese nodo quedan sin ejecutar.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13248" y="5047488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3B341"/>
                </a:solidFill>
                <a:latin typeface="Segoe UI"/>
              </a:rPr>
              <a:t>⚠ Parcial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50607" y="4892040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K8s marca el nodo como NotReady y reprograma los pods en los nodos restantes del mismo pool. Si no hay espacio, el Cluster Autoscaler agrega un nodo.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" y="5577840"/>
            <a:ext cx="18288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21408" y="5577840"/>
            <a:ext cx="320040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7528" y="5577840"/>
            <a:ext cx="164592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59168" y="5577840"/>
            <a:ext cx="4754880" cy="694944"/>
          </a:xfrm>
          <a:prstGeom prst="rect">
            <a:avLst/>
          </a:prstGeom>
          <a:solidFill>
            <a:srgbClr val="131820"/>
          </a:solidFill>
          <a:ln w="12700">
            <a:solidFill>
              <a:srgbClr val="303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8328" y="5650992"/>
            <a:ext cx="1645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EDF3"/>
                </a:solidFill>
                <a:latin typeface="Segoe UI"/>
              </a:rPr>
              <a:t>worker-gpu  (cluster profe)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12848" y="5650992"/>
            <a:ext cx="30175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D8590"/>
                </a:solidFill>
                <a:latin typeface="Segoe UI"/>
              </a:rPr>
              <a:t>El minero GPU no está disponible.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13248" y="5779007"/>
            <a:ext cx="155448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  <a:latin typeface="Segoe UI"/>
              </a:rPr>
              <a:t>✅ Mínimo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50607" y="5623559"/>
            <a:ext cx="4572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D8590"/>
                </a:solidFill>
                <a:latin typeface="Segoe UI"/>
              </a:rPr>
              <a:t>El worker-cpu del GKE mina igual. El HPA puede escalar hasta 6 réplicas CPU para compensar. La cadena no se detiene.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